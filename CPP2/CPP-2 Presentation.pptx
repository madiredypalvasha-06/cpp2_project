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63" r:id="rId9"/>
    <p:sldId id="265" r:id="rId10"/>
    <p:sldId id="267" r:id="rId11"/>
    <p:sldId id="269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3262C7-0FB2-1670-F59B-BFCD6791EE1E}" v="235" dt="2025-12-06T07:29:07.499"/>
    <p1510:client id="{8F9BACBE-3995-DF2F-C8CF-2FC9348F8B4C}" v="465" dt="2025-12-05T09:21:10.492"/>
    <p1510:client id="{9C4B0F69-5BFF-AB79-9B52-B4CFAD1FEE49}" v="2" dt="2025-12-05T09:56:53.828"/>
    <p1510:client id="{A98EC215-C4E7-C704-3295-42EE78D203AA}" v="139" dt="2025-12-06T07:39:20.429"/>
    <p1510:client id="{E3C6F3B5-A037-9442-CE64-B564783BAA57}" v="309" dt="2025-12-06T08:11:43.587"/>
    <p1510:client id="{F71EC3BA-D812-64AF-06E3-A05FB3E15D37}" v="11" dt="2025-12-06T06:43:56.0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640A98-E1ED-422F-BD2F-43B24DC1DC5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2948396-A602-4845-9FDD-77797BCD657D}">
      <dgm:prSet/>
      <dgm:spPr/>
      <dgm:t>
        <a:bodyPr/>
        <a:lstStyle/>
        <a:p>
          <a:r>
            <a:rPr lang="en-US"/>
            <a:t>Hasan, M. M., Li, Y., Yang, M., &amp; Rahman, M. A. (2020). </a:t>
          </a:r>
          <a:r>
            <a:rPr lang="en-US" i="1"/>
            <a:t>A Benchmark Dataset for Underwater Image Segmentation (SUIM).</a:t>
          </a:r>
          <a:br>
            <a:rPr lang="en-US" i="1"/>
          </a:br>
          <a:r>
            <a:rPr lang="en-US" i="1"/>
            <a:t>arXiv:2004.01241.</a:t>
          </a:r>
          <a:endParaRPr lang="en-US"/>
        </a:p>
      </dgm:t>
    </dgm:pt>
    <dgm:pt modelId="{F88601C0-503B-4A2D-8689-AC42D4750EC5}" type="parTrans" cxnId="{DACF5F43-1C51-47B8-AF8C-802C42411432}">
      <dgm:prSet/>
      <dgm:spPr/>
      <dgm:t>
        <a:bodyPr/>
        <a:lstStyle/>
        <a:p>
          <a:endParaRPr lang="en-US"/>
        </a:p>
      </dgm:t>
    </dgm:pt>
    <dgm:pt modelId="{12C57E42-BAEE-4090-BC69-7ED7BA143CDA}" type="sibTrans" cxnId="{DACF5F43-1C51-47B8-AF8C-802C42411432}">
      <dgm:prSet/>
      <dgm:spPr/>
      <dgm:t>
        <a:bodyPr/>
        <a:lstStyle/>
        <a:p>
          <a:endParaRPr lang="en-US"/>
        </a:p>
      </dgm:t>
    </dgm:pt>
    <dgm:pt modelId="{1AC95FD3-5270-4678-AA19-EACBCB8EC814}">
      <dgm:prSet/>
      <dgm:spPr/>
      <dgm:t>
        <a:bodyPr/>
        <a:lstStyle/>
        <a:p>
          <a:r>
            <a:rPr lang="en-US"/>
            <a:t>Islam, M. J., Xia, Y., &amp; Sattar, J. (2020). </a:t>
          </a:r>
          <a:r>
            <a:rPr lang="en-US" i="1"/>
            <a:t>Fast Underwater Image Enhancement for Improved Visual Perception.</a:t>
          </a:r>
          <a:r>
            <a:rPr lang="en-US"/>
            <a:t> ICRA. (Includes U-Net segmentation in underwater domain.)</a:t>
          </a:r>
        </a:p>
      </dgm:t>
    </dgm:pt>
    <dgm:pt modelId="{A12EA075-5881-4340-81EE-AEE589FBDB2F}" type="parTrans" cxnId="{9A5A7D41-4FA9-48A9-85C8-A703B63C865D}">
      <dgm:prSet/>
      <dgm:spPr/>
      <dgm:t>
        <a:bodyPr/>
        <a:lstStyle/>
        <a:p>
          <a:endParaRPr lang="en-US"/>
        </a:p>
      </dgm:t>
    </dgm:pt>
    <dgm:pt modelId="{386E151E-08C1-49D9-BB58-F675D73702EA}" type="sibTrans" cxnId="{9A5A7D41-4FA9-48A9-85C8-A703B63C865D}">
      <dgm:prSet/>
      <dgm:spPr/>
      <dgm:t>
        <a:bodyPr/>
        <a:lstStyle/>
        <a:p>
          <a:endParaRPr lang="en-US"/>
        </a:p>
      </dgm:t>
    </dgm:pt>
    <dgm:pt modelId="{2CA439DC-FFE7-4331-8386-984159CACC8E}">
      <dgm:prSet/>
      <dgm:spPr/>
      <dgm:t>
        <a:bodyPr/>
        <a:lstStyle/>
        <a:p>
          <a:r>
            <a:rPr lang="en-US"/>
            <a:t>Ronneberger, O., Fischer, P., &amp; Brox, T. (2015). </a:t>
          </a:r>
          <a:r>
            <a:rPr lang="en-US" i="1"/>
            <a:t>U-Net: Convolutional Networks for Biomedical Image Segmentation.</a:t>
          </a:r>
          <a:r>
            <a:rPr lang="en-US"/>
            <a:t>MICCAI.</a:t>
          </a:r>
        </a:p>
      </dgm:t>
    </dgm:pt>
    <dgm:pt modelId="{F6C4EFAB-0F3D-49A8-9156-4073F00B399C}" type="parTrans" cxnId="{47AFDEA9-15E7-41E3-A525-2DB508319673}">
      <dgm:prSet/>
      <dgm:spPr/>
      <dgm:t>
        <a:bodyPr/>
        <a:lstStyle/>
        <a:p>
          <a:endParaRPr lang="en-US"/>
        </a:p>
      </dgm:t>
    </dgm:pt>
    <dgm:pt modelId="{1B70E66C-BDFD-44EC-9579-27F8E9071E6F}" type="sibTrans" cxnId="{47AFDEA9-15E7-41E3-A525-2DB508319673}">
      <dgm:prSet/>
      <dgm:spPr/>
      <dgm:t>
        <a:bodyPr/>
        <a:lstStyle/>
        <a:p>
          <a:endParaRPr lang="en-US"/>
        </a:p>
      </dgm:t>
    </dgm:pt>
    <dgm:pt modelId="{FBA35348-A3F2-463F-A789-A9568BB3D493}" type="pres">
      <dgm:prSet presAssocID="{3C640A98-E1ED-422F-BD2F-43B24DC1DC5D}" presName="vert0" presStyleCnt="0">
        <dgm:presLayoutVars>
          <dgm:dir/>
          <dgm:animOne val="branch"/>
          <dgm:animLvl val="lvl"/>
        </dgm:presLayoutVars>
      </dgm:prSet>
      <dgm:spPr/>
    </dgm:pt>
    <dgm:pt modelId="{4DDA4F03-6AD6-4EA0-B3F4-A8D869C0EFA9}" type="pres">
      <dgm:prSet presAssocID="{32948396-A602-4845-9FDD-77797BCD657D}" presName="thickLine" presStyleLbl="alignNode1" presStyleIdx="0" presStyleCnt="3"/>
      <dgm:spPr/>
    </dgm:pt>
    <dgm:pt modelId="{1109BD9C-0C2E-4637-8497-2EF4D294BC5A}" type="pres">
      <dgm:prSet presAssocID="{32948396-A602-4845-9FDD-77797BCD657D}" presName="horz1" presStyleCnt="0"/>
      <dgm:spPr/>
    </dgm:pt>
    <dgm:pt modelId="{F39A092F-B9BC-496D-B629-3DDBAFDD651E}" type="pres">
      <dgm:prSet presAssocID="{32948396-A602-4845-9FDD-77797BCD657D}" presName="tx1" presStyleLbl="revTx" presStyleIdx="0" presStyleCnt="3"/>
      <dgm:spPr/>
    </dgm:pt>
    <dgm:pt modelId="{6F347F2B-E6AE-40EC-9C7D-F80183006845}" type="pres">
      <dgm:prSet presAssocID="{32948396-A602-4845-9FDD-77797BCD657D}" presName="vert1" presStyleCnt="0"/>
      <dgm:spPr/>
    </dgm:pt>
    <dgm:pt modelId="{1D807488-50C1-4A44-9EF6-6684F53AF0B3}" type="pres">
      <dgm:prSet presAssocID="{1AC95FD3-5270-4678-AA19-EACBCB8EC814}" presName="thickLine" presStyleLbl="alignNode1" presStyleIdx="1" presStyleCnt="3"/>
      <dgm:spPr/>
    </dgm:pt>
    <dgm:pt modelId="{43045A7B-6C6A-4F7E-975E-8DF223BC7D2A}" type="pres">
      <dgm:prSet presAssocID="{1AC95FD3-5270-4678-AA19-EACBCB8EC814}" presName="horz1" presStyleCnt="0"/>
      <dgm:spPr/>
    </dgm:pt>
    <dgm:pt modelId="{FE32D1B6-E906-4C69-99F3-7EEFC531C0AA}" type="pres">
      <dgm:prSet presAssocID="{1AC95FD3-5270-4678-AA19-EACBCB8EC814}" presName="tx1" presStyleLbl="revTx" presStyleIdx="1" presStyleCnt="3"/>
      <dgm:spPr/>
    </dgm:pt>
    <dgm:pt modelId="{5CDD6B4A-EB84-4A03-8612-F1BAC123D0B7}" type="pres">
      <dgm:prSet presAssocID="{1AC95FD3-5270-4678-AA19-EACBCB8EC814}" presName="vert1" presStyleCnt="0"/>
      <dgm:spPr/>
    </dgm:pt>
    <dgm:pt modelId="{029B00C7-B9B9-47E4-A17E-CD26135E7941}" type="pres">
      <dgm:prSet presAssocID="{2CA439DC-FFE7-4331-8386-984159CACC8E}" presName="thickLine" presStyleLbl="alignNode1" presStyleIdx="2" presStyleCnt="3"/>
      <dgm:spPr/>
    </dgm:pt>
    <dgm:pt modelId="{22611776-45D9-4D32-8BB2-1F6025E5B0A2}" type="pres">
      <dgm:prSet presAssocID="{2CA439DC-FFE7-4331-8386-984159CACC8E}" presName="horz1" presStyleCnt="0"/>
      <dgm:spPr/>
    </dgm:pt>
    <dgm:pt modelId="{C9FAA2E2-0EC5-4E86-AB2D-7ADCE1E98926}" type="pres">
      <dgm:prSet presAssocID="{2CA439DC-FFE7-4331-8386-984159CACC8E}" presName="tx1" presStyleLbl="revTx" presStyleIdx="2" presStyleCnt="3"/>
      <dgm:spPr/>
    </dgm:pt>
    <dgm:pt modelId="{87651C13-FCA4-4965-9BAC-811D2442AC3A}" type="pres">
      <dgm:prSet presAssocID="{2CA439DC-FFE7-4331-8386-984159CACC8E}" presName="vert1" presStyleCnt="0"/>
      <dgm:spPr/>
    </dgm:pt>
  </dgm:ptLst>
  <dgm:cxnLst>
    <dgm:cxn modelId="{9A5A7D41-4FA9-48A9-85C8-A703B63C865D}" srcId="{3C640A98-E1ED-422F-BD2F-43B24DC1DC5D}" destId="{1AC95FD3-5270-4678-AA19-EACBCB8EC814}" srcOrd="1" destOrd="0" parTransId="{A12EA075-5881-4340-81EE-AEE589FBDB2F}" sibTransId="{386E151E-08C1-49D9-BB58-F675D73702EA}"/>
    <dgm:cxn modelId="{DACF5F43-1C51-47B8-AF8C-802C42411432}" srcId="{3C640A98-E1ED-422F-BD2F-43B24DC1DC5D}" destId="{32948396-A602-4845-9FDD-77797BCD657D}" srcOrd="0" destOrd="0" parTransId="{F88601C0-503B-4A2D-8689-AC42D4750EC5}" sibTransId="{12C57E42-BAEE-4090-BC69-7ED7BA143CDA}"/>
    <dgm:cxn modelId="{76D9E157-4FA2-4E3C-A147-6FE15BA13FD0}" type="presOf" srcId="{3C640A98-E1ED-422F-BD2F-43B24DC1DC5D}" destId="{FBA35348-A3F2-463F-A789-A9568BB3D493}" srcOrd="0" destOrd="0" presId="urn:microsoft.com/office/officeart/2008/layout/LinedList"/>
    <dgm:cxn modelId="{DABA237B-AA71-4B67-85ED-D8BADAADFABB}" type="presOf" srcId="{1AC95FD3-5270-4678-AA19-EACBCB8EC814}" destId="{FE32D1B6-E906-4C69-99F3-7EEFC531C0AA}" srcOrd="0" destOrd="0" presId="urn:microsoft.com/office/officeart/2008/layout/LinedList"/>
    <dgm:cxn modelId="{B78ED3A1-3CF3-49C8-97F5-7CFC93F338CD}" type="presOf" srcId="{2CA439DC-FFE7-4331-8386-984159CACC8E}" destId="{C9FAA2E2-0EC5-4E86-AB2D-7ADCE1E98926}" srcOrd="0" destOrd="0" presId="urn:microsoft.com/office/officeart/2008/layout/LinedList"/>
    <dgm:cxn modelId="{47AFDEA9-15E7-41E3-A525-2DB508319673}" srcId="{3C640A98-E1ED-422F-BD2F-43B24DC1DC5D}" destId="{2CA439DC-FFE7-4331-8386-984159CACC8E}" srcOrd="2" destOrd="0" parTransId="{F6C4EFAB-0F3D-49A8-9156-4073F00B399C}" sibTransId="{1B70E66C-BDFD-44EC-9579-27F8E9071E6F}"/>
    <dgm:cxn modelId="{AEAFA1D2-AD7D-4DA2-A7CF-56F7B11897A4}" type="presOf" srcId="{32948396-A602-4845-9FDD-77797BCD657D}" destId="{F39A092F-B9BC-496D-B629-3DDBAFDD651E}" srcOrd="0" destOrd="0" presId="urn:microsoft.com/office/officeart/2008/layout/LinedList"/>
    <dgm:cxn modelId="{CCEF498B-11B3-446A-AE0A-95405600A3E1}" type="presParOf" srcId="{FBA35348-A3F2-463F-A789-A9568BB3D493}" destId="{4DDA4F03-6AD6-4EA0-B3F4-A8D869C0EFA9}" srcOrd="0" destOrd="0" presId="urn:microsoft.com/office/officeart/2008/layout/LinedList"/>
    <dgm:cxn modelId="{9DF8DA95-4AAB-43F8-8630-D02E6118F299}" type="presParOf" srcId="{FBA35348-A3F2-463F-A789-A9568BB3D493}" destId="{1109BD9C-0C2E-4637-8497-2EF4D294BC5A}" srcOrd="1" destOrd="0" presId="urn:microsoft.com/office/officeart/2008/layout/LinedList"/>
    <dgm:cxn modelId="{45CD8D79-7F08-4714-BA1A-C8B1CF4A4957}" type="presParOf" srcId="{1109BD9C-0C2E-4637-8497-2EF4D294BC5A}" destId="{F39A092F-B9BC-496D-B629-3DDBAFDD651E}" srcOrd="0" destOrd="0" presId="urn:microsoft.com/office/officeart/2008/layout/LinedList"/>
    <dgm:cxn modelId="{90B3E63D-41AD-4CF9-B154-84EF345B04EC}" type="presParOf" srcId="{1109BD9C-0C2E-4637-8497-2EF4D294BC5A}" destId="{6F347F2B-E6AE-40EC-9C7D-F80183006845}" srcOrd="1" destOrd="0" presId="urn:microsoft.com/office/officeart/2008/layout/LinedList"/>
    <dgm:cxn modelId="{383DB247-AB1B-405A-9227-0C4692677C59}" type="presParOf" srcId="{FBA35348-A3F2-463F-A789-A9568BB3D493}" destId="{1D807488-50C1-4A44-9EF6-6684F53AF0B3}" srcOrd="2" destOrd="0" presId="urn:microsoft.com/office/officeart/2008/layout/LinedList"/>
    <dgm:cxn modelId="{89F5F6B2-72AD-4CE9-9C3C-996A7E0D5C37}" type="presParOf" srcId="{FBA35348-A3F2-463F-A789-A9568BB3D493}" destId="{43045A7B-6C6A-4F7E-975E-8DF223BC7D2A}" srcOrd="3" destOrd="0" presId="urn:microsoft.com/office/officeart/2008/layout/LinedList"/>
    <dgm:cxn modelId="{0037D29C-D355-4ABC-8E90-27CDB9F7FF53}" type="presParOf" srcId="{43045A7B-6C6A-4F7E-975E-8DF223BC7D2A}" destId="{FE32D1B6-E906-4C69-99F3-7EEFC531C0AA}" srcOrd="0" destOrd="0" presId="urn:microsoft.com/office/officeart/2008/layout/LinedList"/>
    <dgm:cxn modelId="{F3C3CEE9-C813-48D7-84BE-23051EC52E2C}" type="presParOf" srcId="{43045A7B-6C6A-4F7E-975E-8DF223BC7D2A}" destId="{5CDD6B4A-EB84-4A03-8612-F1BAC123D0B7}" srcOrd="1" destOrd="0" presId="urn:microsoft.com/office/officeart/2008/layout/LinedList"/>
    <dgm:cxn modelId="{E1CA2267-D52E-4C15-BDDA-08D057CE0C16}" type="presParOf" srcId="{FBA35348-A3F2-463F-A789-A9568BB3D493}" destId="{029B00C7-B9B9-47E4-A17E-CD26135E7941}" srcOrd="4" destOrd="0" presId="urn:microsoft.com/office/officeart/2008/layout/LinedList"/>
    <dgm:cxn modelId="{689E2C20-3D2D-4FE9-B56A-DDD45ED09F18}" type="presParOf" srcId="{FBA35348-A3F2-463F-A789-A9568BB3D493}" destId="{22611776-45D9-4D32-8BB2-1F6025E5B0A2}" srcOrd="5" destOrd="0" presId="urn:microsoft.com/office/officeart/2008/layout/LinedList"/>
    <dgm:cxn modelId="{015CAA64-1520-48B0-8BAE-18FB06850C4F}" type="presParOf" srcId="{22611776-45D9-4D32-8BB2-1F6025E5B0A2}" destId="{C9FAA2E2-0EC5-4E86-AB2D-7ADCE1E98926}" srcOrd="0" destOrd="0" presId="urn:microsoft.com/office/officeart/2008/layout/LinedList"/>
    <dgm:cxn modelId="{8FB35A00-FEE3-46B0-A8BD-26D39AA08BEF}" type="presParOf" srcId="{22611776-45D9-4D32-8BB2-1F6025E5B0A2}" destId="{87651C13-FCA4-4965-9BAC-811D2442AC3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DA4F03-6AD6-4EA0-B3F4-A8D869C0EFA9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9A092F-B9BC-496D-B629-3DDBAFDD651E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Hasan, M. M., Li, Y., Yang, M., &amp; Rahman, M. A. (2020). </a:t>
          </a:r>
          <a:r>
            <a:rPr lang="en-US" sz="2900" i="1" kern="1200"/>
            <a:t>A Benchmark Dataset for Underwater Image Segmentation (SUIM).</a:t>
          </a:r>
          <a:br>
            <a:rPr lang="en-US" sz="2900" i="1" kern="1200"/>
          </a:br>
          <a:r>
            <a:rPr lang="en-US" sz="2900" i="1" kern="1200"/>
            <a:t>arXiv:2004.01241.</a:t>
          </a:r>
          <a:endParaRPr lang="en-US" sz="2900" kern="1200"/>
        </a:p>
      </dsp:txBody>
      <dsp:txXfrm>
        <a:off x="0" y="2124"/>
        <a:ext cx="10515600" cy="1449029"/>
      </dsp:txXfrm>
    </dsp:sp>
    <dsp:sp modelId="{1D807488-50C1-4A44-9EF6-6684F53AF0B3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32D1B6-E906-4C69-99F3-7EEFC531C0AA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Islam, M. J., Xia, Y., &amp; Sattar, J. (2020). </a:t>
          </a:r>
          <a:r>
            <a:rPr lang="en-US" sz="2900" i="1" kern="1200"/>
            <a:t>Fast Underwater Image Enhancement for Improved Visual Perception.</a:t>
          </a:r>
          <a:r>
            <a:rPr lang="en-US" sz="2900" kern="1200"/>
            <a:t> ICRA. (Includes U-Net segmentation in underwater domain.)</a:t>
          </a:r>
        </a:p>
      </dsp:txBody>
      <dsp:txXfrm>
        <a:off x="0" y="1451154"/>
        <a:ext cx="10515600" cy="1449029"/>
      </dsp:txXfrm>
    </dsp:sp>
    <dsp:sp modelId="{029B00C7-B9B9-47E4-A17E-CD26135E7941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FAA2E2-0EC5-4E86-AB2D-7ADCE1E98926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Ronneberger, O., Fischer, P., &amp; Brox, T. (2015). </a:t>
          </a:r>
          <a:r>
            <a:rPr lang="en-US" sz="2900" i="1" kern="1200"/>
            <a:t>U-Net: Convolutional Networks for Biomedical Image Segmentation.</a:t>
          </a:r>
          <a:r>
            <a:rPr lang="en-US" sz="2900" kern="1200"/>
            <a:t>MICCAI.</a:t>
          </a:r>
        </a:p>
      </dsp:txBody>
      <dsp:txXfrm>
        <a:off x="0" y="2900183"/>
        <a:ext cx="10515600" cy="14490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344"/>
            <a:ext cx="12309230" cy="3105639"/>
          </a:xfrm>
        </p:spPr>
        <p:txBody>
          <a:bodyPr>
            <a:noAutofit/>
          </a:bodyPr>
          <a:lstStyle/>
          <a:p>
            <a:r>
              <a:rPr lang="en-US" sz="6700" b="1" dirty="0">
                <a:ea typeface="+mj-lt"/>
                <a:cs typeface="+mj-lt"/>
              </a:rPr>
              <a:t>Semantic Segmentation Using</a:t>
            </a:r>
            <a:br>
              <a:rPr lang="en-US" sz="6700" b="1" dirty="0">
                <a:ea typeface="+mj-lt"/>
                <a:cs typeface="+mj-lt"/>
              </a:rPr>
            </a:br>
            <a:r>
              <a:rPr lang="en-US" sz="6700" b="1" dirty="0">
                <a:ea typeface="+mj-lt"/>
                <a:cs typeface="+mj-lt"/>
              </a:rPr>
              <a:t> U-Net and DeepLabV3+ for Underwater Image Analysis</a:t>
            </a:r>
            <a:endParaRPr lang="en-US" sz="67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E2BF4-E822-5934-ACA3-BF9C49160D94}"/>
              </a:ext>
            </a:extLst>
          </p:cNvPr>
          <p:cNvSpPr txBox="1"/>
          <p:nvPr/>
        </p:nvSpPr>
        <p:spPr>
          <a:xfrm>
            <a:off x="710720" y="3399705"/>
            <a:ext cx="4970581" cy="2616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ea typeface="+mn-lt"/>
                <a:cs typeface="+mn-lt"/>
              </a:rPr>
              <a:t>TEAM:</a:t>
            </a: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err="1">
                <a:ea typeface="+mn-lt"/>
                <a:cs typeface="+mn-lt"/>
              </a:rPr>
              <a:t>Palvasha</a:t>
            </a:r>
            <a:r>
              <a:rPr lang="en-US" sz="2000" dirty="0">
                <a:ea typeface="+mn-lt"/>
                <a:cs typeface="+mn-lt"/>
              </a:rPr>
              <a:t> Madireddy – 24WU012081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Dharan </a:t>
            </a:r>
            <a:r>
              <a:rPr lang="en-US" sz="2000" err="1">
                <a:ea typeface="+mn-lt"/>
                <a:cs typeface="+mn-lt"/>
              </a:rPr>
              <a:t>Gangaraboina</a:t>
            </a:r>
            <a:r>
              <a:rPr lang="en-US" sz="2000" dirty="0">
                <a:ea typeface="+mn-lt"/>
                <a:cs typeface="+mn-lt"/>
              </a:rPr>
              <a:t> – 24WU0102210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Pavitra Sandhya Pradeep-  24WU0102234</a:t>
            </a:r>
          </a:p>
          <a:p>
            <a:pPr marL="285750" indent="-285750">
              <a:buFont typeface="Arial"/>
              <a:buChar char="•"/>
            </a:pPr>
            <a:r>
              <a:rPr lang="en-US" sz="2000" err="1">
                <a:ea typeface="+mn-lt"/>
                <a:cs typeface="+mn-lt"/>
              </a:rPr>
              <a:t>Rishyant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Chitluri</a:t>
            </a:r>
            <a:r>
              <a:rPr lang="en-US" sz="2000" dirty="0">
                <a:ea typeface="+mn-lt"/>
                <a:cs typeface="+mn-lt"/>
              </a:rPr>
              <a:t> – 24WU012013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Pranav Madhusudan – 24WU0102193</a:t>
            </a:r>
          </a:p>
          <a:p>
            <a:pPr algn="l"/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D16641-CB15-540F-250A-F9D6D11404B8}"/>
              </a:ext>
            </a:extLst>
          </p:cNvPr>
          <p:cNvSpPr txBox="1"/>
          <p:nvPr/>
        </p:nvSpPr>
        <p:spPr>
          <a:xfrm>
            <a:off x="710717" y="5751652"/>
            <a:ext cx="497791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ea typeface="+mn-lt"/>
                <a:cs typeface="+mn-lt"/>
              </a:rPr>
              <a:t>FACULTY MENTOR: </a:t>
            </a:r>
            <a:r>
              <a:rPr lang="en-US" dirty="0">
                <a:ea typeface="+mn-lt"/>
                <a:cs typeface="+mn-lt"/>
              </a:rPr>
              <a:t>Prof. Veeresh Biradar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Department: </a:t>
            </a:r>
            <a:r>
              <a:rPr lang="en-US" dirty="0" err="1">
                <a:ea typeface="+mn-lt"/>
                <a:cs typeface="+mn-lt"/>
              </a:rPr>
              <a:t>B.Tech</a:t>
            </a:r>
            <a:r>
              <a:rPr lang="en-US" dirty="0">
                <a:ea typeface="+mn-lt"/>
                <a:cs typeface="+mn-lt"/>
              </a:rPr>
              <a:t> AIML — </a:t>
            </a:r>
            <a:r>
              <a:rPr lang="en-US" dirty="0" err="1">
                <a:ea typeface="+mn-lt"/>
                <a:cs typeface="+mn-lt"/>
              </a:rPr>
              <a:t>Woxsen</a:t>
            </a:r>
            <a:r>
              <a:rPr lang="en-US" dirty="0">
                <a:ea typeface="+mn-lt"/>
                <a:cs typeface="+mn-lt"/>
              </a:rPr>
              <a:t> University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9119AC-6E67-4732-9963-9C5291B80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2566" y="5754909"/>
            <a:ext cx="2116841" cy="110658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048560A-B025-CF85-9D24-1C1394015005}"/>
              </a:ext>
            </a:extLst>
          </p:cNvPr>
          <p:cNvCxnSpPr/>
          <p:nvPr/>
        </p:nvCxnSpPr>
        <p:spPr>
          <a:xfrm>
            <a:off x="598028" y="3105886"/>
            <a:ext cx="11188908" cy="38582"/>
          </a:xfrm>
          <a:prstGeom prst="straightConnector1">
            <a:avLst/>
          </a:prstGeom>
          <a:ln w="57150">
            <a:prstDash val="soli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34AB1-1C91-DF1B-3B53-087BCC07E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ea typeface="+mj-lt"/>
                <a:cs typeface="+mj-lt"/>
              </a:rPr>
              <a:t>INTRODUCTION:</a:t>
            </a:r>
            <a:endParaRPr lang="en-US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896B3-9635-2437-5BE2-F7E97D496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Underwater image analysis is essential in: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Marine biodiversity monitoring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Underwater robotics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Environmental research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Coral reef health assessment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Pollution tracking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But underwater images suffer from: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Color distortion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Light scattering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Noise &amp; low contrast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Motion blur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So traditional computer vision methods fail.</a:t>
            </a:r>
          </a:p>
          <a:p>
            <a:pPr marL="0" indent="0">
              <a:buNone/>
            </a:pP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This creates the need for </a:t>
            </a:r>
            <a:r>
              <a:rPr lang="en-US" b="1" dirty="0">
                <a:ea typeface="+mn-lt"/>
                <a:cs typeface="+mn-lt"/>
              </a:rPr>
              <a:t>deep learning-based semantic segmentation</a:t>
            </a:r>
            <a:r>
              <a:rPr lang="en-US" dirty="0">
                <a:ea typeface="+mn-lt"/>
                <a:cs typeface="+mn-lt"/>
              </a:rPr>
              <a:t> — pixel-wise classification.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C2696B-7F79-83BB-F8E4-E1A81D91F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981" y="2105025"/>
            <a:ext cx="7239000" cy="264795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6FC8D0-E1DC-C837-397A-D9261FD69A00}"/>
              </a:ext>
            </a:extLst>
          </p:cNvPr>
          <p:cNvCxnSpPr/>
          <p:nvPr/>
        </p:nvCxnSpPr>
        <p:spPr>
          <a:xfrm>
            <a:off x="347243" y="1485423"/>
            <a:ext cx="11873742" cy="0"/>
          </a:xfrm>
          <a:prstGeom prst="straightConnector1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45C3D20-2057-60B7-69F0-B9473D9B9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747" y="6021005"/>
            <a:ext cx="1593570" cy="83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99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71E442-400F-2394-DB87-0F90B18E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 dirty="0">
                <a:ea typeface="+mj-lt"/>
                <a:cs typeface="+mj-lt"/>
              </a:rPr>
              <a:t>PROBLEM STATEMENT</a:t>
            </a:r>
            <a:endParaRPr lang="en-US" sz="48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5626C-A7FE-F1AD-D7D9-9A7C35D4C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>
                <a:ea typeface="+mn-lt"/>
                <a:cs typeface="+mn-lt"/>
              </a:rPr>
              <a:t>The problem:</a:t>
            </a:r>
            <a:br>
              <a:rPr lang="en-US" sz="2400" b="1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Underwater images are extremely difficult to segment due to inconsistent lighting, suspended particles, color loss, turbidity, and the presence of complex marine objects. Achieving accurate boundary detection using a single model remains challenging.</a:t>
            </a:r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Therefore:</a:t>
            </a:r>
            <a:br>
              <a:rPr lang="en-US" sz="2400" b="1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A comparative and hybrid approach using U-Net and DeepLabV3+ is needed to improve segmentation performance.</a:t>
            </a:r>
            <a:endParaRPr lang="en-US" sz="2400"/>
          </a:p>
          <a:p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5827701-FEE8-FCC5-06B5-F7BEE539F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8950" y="5750930"/>
            <a:ext cx="2124075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635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187533-F751-CF60-938A-70FF3FE7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 dirty="0">
                <a:ea typeface="+mj-lt"/>
                <a:cs typeface="+mj-lt"/>
              </a:rPr>
              <a:t>PROJECT OBJECTIVES</a:t>
            </a:r>
            <a:endParaRPr lang="en-US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C9882-C3CF-F3E9-1DEE-C27EBB41C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To compare both architectures (U-Net &amp; DeepLabV3+) based on segmentation accuracy on underwater datasets.</a:t>
            </a:r>
          </a:p>
          <a:p>
            <a:endParaRPr lang="en-US" sz="2200">
              <a:ea typeface="+mn-lt"/>
              <a:cs typeface="+mn-lt"/>
            </a:endParaRPr>
          </a:p>
          <a:p>
            <a:r>
              <a:rPr lang="en-US" sz="2200">
                <a:ea typeface="+mn-lt"/>
                <a:cs typeface="+mn-lt"/>
              </a:rPr>
              <a:t>To develop a hybrid/ensemble model that fuses U-Net’s fine localization with DeepLabV3+’s multi-scale feature extraction.</a:t>
            </a:r>
          </a:p>
          <a:p>
            <a:endParaRPr lang="en-US" sz="2200">
              <a:ea typeface="+mn-lt"/>
              <a:cs typeface="+mn-lt"/>
            </a:endParaRPr>
          </a:p>
          <a:p>
            <a:r>
              <a:rPr lang="en-US" sz="2200">
                <a:ea typeface="+mn-lt"/>
                <a:cs typeface="+mn-lt"/>
              </a:rPr>
              <a:t>To benchmark the performance using IoU, mIoU, Dice Score, Boundary F1-score, and computational throughput.</a:t>
            </a:r>
            <a:endParaRPr lang="en-US" sz="2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66FA6DD-9651-F3CC-E63C-A07450C9B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8950" y="5750930"/>
            <a:ext cx="2124075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573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531E6-DBC5-EDAD-7465-F25A675ED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A4C32-60EF-8BB4-C0C5-0D7592702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Existing Work:</a:t>
            </a:r>
            <a:endParaRPr lang="en-US" dirty="0"/>
          </a:p>
          <a:p>
            <a:pPr marL="457200" indent="-457200"/>
            <a:r>
              <a:rPr lang="en-US" b="1" dirty="0">
                <a:ea typeface="+mn-lt"/>
                <a:cs typeface="+mn-lt"/>
              </a:rPr>
              <a:t>U-Net</a:t>
            </a:r>
            <a:r>
              <a:rPr lang="en-US" dirty="0">
                <a:ea typeface="+mn-lt"/>
                <a:cs typeface="+mn-lt"/>
              </a:rPr>
              <a:t> is widely used in biomedical and underwater tasks due to its encoder–decoder structure and skip connections.</a:t>
            </a:r>
          </a:p>
          <a:p>
            <a:pPr marL="457200" indent="-457200"/>
            <a:r>
              <a:rPr lang="en-US" b="1" dirty="0">
                <a:ea typeface="+mn-lt"/>
                <a:cs typeface="+mn-lt"/>
              </a:rPr>
              <a:t>DeepLabV3+</a:t>
            </a:r>
            <a:r>
              <a:rPr lang="en-US" dirty="0">
                <a:ea typeface="+mn-lt"/>
                <a:cs typeface="+mn-lt"/>
              </a:rPr>
              <a:t> improves segmentation using:</a:t>
            </a: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       1. </a:t>
            </a:r>
            <a:r>
              <a:rPr lang="en-US" sz="2400" dirty="0" err="1">
                <a:ea typeface="+mn-lt"/>
                <a:cs typeface="+mn-lt"/>
              </a:rPr>
              <a:t>Atrous</a:t>
            </a:r>
            <a:r>
              <a:rPr lang="en-US" sz="2400" dirty="0">
                <a:ea typeface="+mn-lt"/>
                <a:cs typeface="+mn-lt"/>
              </a:rPr>
              <a:t> Spatial Pyramid Pooling (ASPP).</a:t>
            </a: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      2. Depthwise separable convolutions.</a:t>
            </a:r>
            <a:endParaRPr lang="en-US" dirty="0"/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        3. Better context extraction.</a:t>
            </a:r>
            <a:endParaRPr lang="en-US" sz="2400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Gap</a:t>
            </a:r>
            <a:r>
              <a:rPr lang="en-US" b="1" dirty="0"/>
              <a:t> Identified:</a:t>
            </a:r>
            <a:endParaRPr lang="en-US" dirty="0"/>
          </a:p>
          <a:p>
            <a:pPr marL="800100" lvl="1" indent="-342900"/>
            <a:r>
              <a:rPr lang="en-US" dirty="0">
                <a:ea typeface="+mn-lt"/>
                <a:cs typeface="+mn-lt"/>
              </a:rPr>
              <a:t>Most studies use either U-Net or DeepLabV3+ individually, but very few explore</a:t>
            </a:r>
          </a:p>
          <a:p>
            <a:pPr marL="457200" lvl="1" indent="0">
              <a:buNone/>
            </a:pPr>
            <a:r>
              <a:rPr lang="en-US" dirty="0">
                <a:ea typeface="+mn-lt"/>
                <a:cs typeface="+mn-lt"/>
              </a:rPr>
              <a:t> a hybrid or ensemble architecture specifically optimized for underwater imagery, which</a:t>
            </a:r>
          </a:p>
          <a:p>
            <a:pPr marL="457200" lvl="1" indent="0">
              <a:buNone/>
            </a:pPr>
            <a:r>
              <a:rPr lang="en-US" dirty="0">
                <a:ea typeface="+mn-lt"/>
                <a:cs typeface="+mn-lt"/>
              </a:rPr>
              <a:t> has unique distortions.</a:t>
            </a:r>
          </a:p>
          <a:p>
            <a:pPr marL="800100" lvl="1" indent="-342900"/>
            <a:r>
              <a:rPr lang="en-US" dirty="0">
                <a:ea typeface="+mn-lt"/>
                <a:cs typeface="+mn-lt"/>
              </a:rPr>
              <a:t>This gap creates your novelty.</a:t>
            </a:r>
            <a:endParaRPr lang="en-US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9428F1-282B-5E9F-84FA-BCC84B2E53DC}"/>
              </a:ext>
            </a:extLst>
          </p:cNvPr>
          <p:cNvSpPr/>
          <p:nvPr/>
        </p:nvSpPr>
        <p:spPr>
          <a:xfrm>
            <a:off x="839186" y="1446840"/>
            <a:ext cx="11109764" cy="75236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59FDD2-2F99-6E23-8DF4-7D2C1E63E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253" y="2612803"/>
            <a:ext cx="5000024" cy="1979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209044-0BB1-72DB-1D65-3505ECD86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8950" y="5750930"/>
            <a:ext cx="2124075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404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80A036-F1BA-BD72-3BAB-67D27E7D9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835" y="1030591"/>
            <a:ext cx="7427136" cy="45623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880322-5FED-BF48-05A9-44A75B371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239" y="365125"/>
            <a:ext cx="10940561" cy="1340216"/>
          </a:xfrm>
        </p:spPr>
        <p:txBody>
          <a:bodyPr>
            <a:normAutofit/>
          </a:bodyPr>
          <a:lstStyle/>
          <a:p>
            <a:r>
              <a:rPr lang="en-US" sz="5400" b="1" dirty="0"/>
              <a:t>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3CA7D-D138-15A6-3BAE-1B30CF344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239" y="1825625"/>
            <a:ext cx="10940561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000" b="1" dirty="0"/>
              <a:t>What makes your project unique?</a:t>
            </a:r>
            <a:endParaRPr lang="en-US" sz="2000" dirty="0"/>
          </a:p>
          <a:p>
            <a:r>
              <a:rPr lang="en-US" sz="2000" dirty="0"/>
              <a:t>A </a:t>
            </a:r>
            <a:r>
              <a:rPr lang="en-US" sz="2000" b="1" dirty="0"/>
              <a:t>comparative + hybrid</a:t>
            </a:r>
            <a:r>
              <a:rPr lang="en-US" sz="2000" dirty="0"/>
              <a:t> approach</a:t>
            </a:r>
          </a:p>
          <a:p>
            <a:pPr marL="0" indent="0">
              <a:buNone/>
            </a:pPr>
            <a:r>
              <a:rPr lang="en-US" sz="2000" dirty="0"/>
              <a:t>     instead of using a single model.</a:t>
            </a:r>
          </a:p>
          <a:p>
            <a:r>
              <a:rPr lang="en-US" sz="2000" dirty="0"/>
              <a:t>Targeted specifically at </a:t>
            </a:r>
          </a:p>
          <a:p>
            <a:pPr marL="0" indent="0">
              <a:buNone/>
            </a:pPr>
            <a:r>
              <a:rPr lang="en-US" sz="2000" b="1" dirty="0"/>
              <a:t>     underwater images</a:t>
            </a:r>
            <a:r>
              <a:rPr lang="en-US" sz="2000" dirty="0"/>
              <a:t>, which is </a:t>
            </a:r>
            <a:endParaRPr lang="en-US"/>
          </a:p>
          <a:p>
            <a:pPr marL="0" indent="0">
              <a:buNone/>
            </a:pPr>
            <a:r>
              <a:rPr lang="en-US" sz="2000" dirty="0"/>
              <a:t>     under-researched.</a:t>
            </a:r>
            <a:endParaRPr lang="en-US" dirty="0"/>
          </a:p>
          <a:p>
            <a:r>
              <a:rPr lang="en-US" sz="2000" dirty="0"/>
              <a:t>Your ensemble aims to:</a:t>
            </a:r>
          </a:p>
          <a:p>
            <a:pPr lvl="1"/>
            <a:r>
              <a:rPr lang="en-US" sz="2000" dirty="0"/>
              <a:t>Improve object boundaries</a:t>
            </a:r>
          </a:p>
          <a:p>
            <a:pPr lvl="1"/>
            <a:r>
              <a:rPr lang="en-US" sz="2000" dirty="0"/>
              <a:t>Produce stable segmentation </a:t>
            </a:r>
          </a:p>
          <a:p>
            <a:pPr marL="457200" lvl="1" indent="0">
              <a:buNone/>
            </a:pPr>
            <a:r>
              <a:rPr lang="en-US" sz="2000" dirty="0"/>
              <a:t>    under noise</a:t>
            </a:r>
            <a:endParaRPr lang="en-US" dirty="0"/>
          </a:p>
          <a:p>
            <a:pPr lvl="1"/>
            <a:r>
              <a:rPr lang="en-US" sz="2000" dirty="0"/>
              <a:t>Increase robustness across </a:t>
            </a:r>
          </a:p>
          <a:p>
            <a:pPr marL="457200" lvl="1" indent="0">
              <a:buNone/>
            </a:pPr>
            <a:r>
              <a:rPr lang="en-US" sz="2000" dirty="0"/>
              <a:t>    datasets</a:t>
            </a:r>
            <a:endParaRPr lang="en-US" dirty="0"/>
          </a:p>
          <a:p>
            <a:pPr lvl="1"/>
            <a:r>
              <a:rPr lang="en-US" sz="2000" dirty="0"/>
              <a:t>This shows </a:t>
            </a:r>
            <a:r>
              <a:rPr lang="en-US" sz="2000" b="1" dirty="0"/>
              <a:t>CO3 (Creativity &amp; Innovation)</a:t>
            </a:r>
            <a:r>
              <a:rPr lang="en-US" sz="2000" dirty="0"/>
              <a:t> clearly.</a:t>
            </a:r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FB72B8-DE4E-EB77-9C05-C6CD6D853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2566" y="5754909"/>
            <a:ext cx="2116841" cy="110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502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F0D8E8-D566-DA13-CDB3-7A66967DA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595" y="819873"/>
            <a:ext cx="6051391" cy="40222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68A5BC-D273-E02B-F34C-332449065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1" y="159971"/>
            <a:ext cx="10515600" cy="1325563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PROPOSED METHODOLOGY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15E75-A1C8-9982-ADAF-2EF24CF9C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22" y="1455942"/>
            <a:ext cx="11307778" cy="533212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b="1" dirty="0"/>
              <a:t>Step 1: Dataset Collection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Possible datasets: SUIM, </a:t>
            </a:r>
            <a:r>
              <a:rPr lang="en-US" dirty="0" err="1">
                <a:ea typeface="+mn-lt"/>
                <a:cs typeface="+mn-lt"/>
              </a:rPr>
              <a:t>UWSeg</a:t>
            </a:r>
            <a:r>
              <a:rPr lang="en-US" dirty="0">
                <a:ea typeface="+mn-lt"/>
                <a:cs typeface="+mn-lt"/>
              </a:rPr>
              <a:t>, UIEB</a:t>
            </a:r>
            <a:endParaRPr lang="en-US" dirty="0"/>
          </a:p>
          <a:p>
            <a:r>
              <a:rPr lang="en-US" b="1" dirty="0"/>
              <a:t>Step 2: Pre-processing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Color correction, Denoising, Image resizing,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   Normalization</a:t>
            </a:r>
            <a:endParaRPr lang="en-US" dirty="0"/>
          </a:p>
          <a:p>
            <a:r>
              <a:rPr lang="en-US" b="1" dirty="0"/>
              <a:t>Step 3: Train U-Net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Evaluate pixel accuracy &amp; boundaries</a:t>
            </a:r>
            <a:endParaRPr lang="en-US" dirty="0"/>
          </a:p>
          <a:p>
            <a:r>
              <a:rPr lang="en-US" b="1" dirty="0"/>
              <a:t>Step 4: Train DeepLabV3+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 ASPP for multi-scale features</a:t>
            </a:r>
            <a:endParaRPr lang="en-US" dirty="0"/>
          </a:p>
          <a:p>
            <a:r>
              <a:rPr lang="en-US" b="1" dirty="0"/>
              <a:t>Step 5: Hybrid Model Development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Possible </a:t>
            </a:r>
            <a:r>
              <a:rPr lang="en-US" dirty="0" err="1">
                <a:ea typeface="+mn-lt"/>
                <a:cs typeface="+mn-lt"/>
              </a:rPr>
              <a:t>strategies:Weighted</a:t>
            </a:r>
            <a:r>
              <a:rPr lang="en-US" dirty="0">
                <a:ea typeface="+mn-lt"/>
                <a:cs typeface="+mn-lt"/>
              </a:rPr>
              <a:t> averaging, Pixel-wise voting, Feature fusion</a:t>
            </a:r>
            <a:endParaRPr lang="en-US" dirty="0"/>
          </a:p>
          <a:p>
            <a:r>
              <a:rPr lang="en-US" b="1" dirty="0"/>
              <a:t>Step 6: Performance Comparison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Using metrics: </a:t>
            </a:r>
            <a:r>
              <a:rPr lang="en-US" dirty="0" err="1">
                <a:ea typeface="+mn-lt"/>
                <a:cs typeface="+mn-lt"/>
              </a:rPr>
              <a:t>IoU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mIoU</a:t>
            </a:r>
            <a:r>
              <a:rPr lang="en-US" dirty="0">
                <a:ea typeface="+mn-lt"/>
                <a:cs typeface="+mn-lt"/>
              </a:rPr>
              <a:t>, Dice Coefficient, Boundary F1, FPS (throughput)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BC6C58-8738-6935-9356-C7BD563A2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2566" y="5754909"/>
            <a:ext cx="2116841" cy="110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965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C0A5B-124B-A2CC-EFD3-C1FA2ABBB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359" y="2986"/>
            <a:ext cx="12499817" cy="1325563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BLOCK DIAGRAM (CONCEPTUAL WORKFLOW)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C32D4-72CE-A6BD-317F-871978365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2566" y="5754909"/>
            <a:ext cx="2116841" cy="11065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A053597-F9A5-BD6A-5AF0-E00C2B5D3A4B}"/>
              </a:ext>
            </a:extLst>
          </p:cNvPr>
          <p:cNvSpPr/>
          <p:nvPr/>
        </p:nvSpPr>
        <p:spPr>
          <a:xfrm>
            <a:off x="3987305" y="1328284"/>
            <a:ext cx="3604857" cy="5725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UNDERWATER DATASET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AD1762-8A0A-95B3-073A-848E2A2A1465}"/>
              </a:ext>
            </a:extLst>
          </p:cNvPr>
          <p:cNvCxnSpPr/>
          <p:nvPr/>
        </p:nvCxnSpPr>
        <p:spPr>
          <a:xfrm flipH="1">
            <a:off x="5557741" y="1900365"/>
            <a:ext cx="436" cy="5944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0B86091-037D-C39A-BDFE-E66E621191AB}"/>
              </a:ext>
            </a:extLst>
          </p:cNvPr>
          <p:cNvSpPr/>
          <p:nvPr/>
        </p:nvSpPr>
        <p:spPr>
          <a:xfrm>
            <a:off x="4005446" y="2497692"/>
            <a:ext cx="3194548" cy="5421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Pre-processing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522B88-EDF1-7BF9-4A2D-DBBF326A99E9}"/>
              </a:ext>
            </a:extLst>
          </p:cNvPr>
          <p:cNvCxnSpPr/>
          <p:nvPr/>
        </p:nvCxnSpPr>
        <p:spPr>
          <a:xfrm>
            <a:off x="5554694" y="3044238"/>
            <a:ext cx="7109" cy="56207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F66D6F1-F3EA-C481-224E-B07974C7B08A}"/>
              </a:ext>
            </a:extLst>
          </p:cNvPr>
          <p:cNvCxnSpPr/>
          <p:nvPr/>
        </p:nvCxnSpPr>
        <p:spPr>
          <a:xfrm flipV="1">
            <a:off x="3931594" y="3593104"/>
            <a:ext cx="3420308" cy="3061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96B8458-C732-B5CB-18C2-3E10219143CE}"/>
              </a:ext>
            </a:extLst>
          </p:cNvPr>
          <p:cNvCxnSpPr/>
          <p:nvPr/>
        </p:nvCxnSpPr>
        <p:spPr>
          <a:xfrm flipH="1">
            <a:off x="3949006" y="3601085"/>
            <a:ext cx="436" cy="39522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ABBE3D-FCC9-3239-60EF-547AB4EC0E1F}"/>
              </a:ext>
            </a:extLst>
          </p:cNvPr>
          <p:cNvCxnSpPr/>
          <p:nvPr/>
        </p:nvCxnSpPr>
        <p:spPr>
          <a:xfrm flipH="1">
            <a:off x="7362491" y="3555819"/>
            <a:ext cx="436" cy="44396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AB8048B-034D-074E-CB96-CAE527942E4C}"/>
              </a:ext>
            </a:extLst>
          </p:cNvPr>
          <p:cNvSpPr/>
          <p:nvPr/>
        </p:nvSpPr>
        <p:spPr>
          <a:xfrm>
            <a:off x="3241413" y="4002545"/>
            <a:ext cx="1525017" cy="4986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U-Net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0B9865-6A16-5928-6F48-4EB90D3F068B}"/>
              </a:ext>
            </a:extLst>
          </p:cNvPr>
          <p:cNvSpPr/>
          <p:nvPr/>
        </p:nvSpPr>
        <p:spPr>
          <a:xfrm>
            <a:off x="6385908" y="3994130"/>
            <a:ext cx="2023393" cy="4848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DeepLabV3+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C54567-6512-53AB-08B8-662A156D42E8}"/>
              </a:ext>
            </a:extLst>
          </p:cNvPr>
          <p:cNvSpPr/>
          <p:nvPr/>
        </p:nvSpPr>
        <p:spPr>
          <a:xfrm>
            <a:off x="4311583" y="4867559"/>
            <a:ext cx="2972561" cy="475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Hybrid/Ensemble Model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E44842-4351-172E-4FF4-96FFF0A210E8}"/>
              </a:ext>
            </a:extLst>
          </p:cNvPr>
          <p:cNvSpPr/>
          <p:nvPr/>
        </p:nvSpPr>
        <p:spPr>
          <a:xfrm>
            <a:off x="4442741" y="5642040"/>
            <a:ext cx="2842855" cy="4249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Performance Evaluation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00E4E1-7029-152D-E7D4-14E1CF2D7E7C}"/>
              </a:ext>
            </a:extLst>
          </p:cNvPr>
          <p:cNvSpPr/>
          <p:nvPr/>
        </p:nvSpPr>
        <p:spPr>
          <a:xfrm>
            <a:off x="4582316" y="6414488"/>
            <a:ext cx="2696316" cy="278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Final Results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7DA7E1-70B5-68AD-17C5-01C00A0A6718}"/>
              </a:ext>
            </a:extLst>
          </p:cNvPr>
          <p:cNvCxnSpPr/>
          <p:nvPr/>
        </p:nvCxnSpPr>
        <p:spPr>
          <a:xfrm>
            <a:off x="5744326" y="5377978"/>
            <a:ext cx="14653" cy="2637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92AFB0-DE6D-5D0B-E011-9DF528CEDDC6}"/>
              </a:ext>
            </a:extLst>
          </p:cNvPr>
          <p:cNvCxnSpPr/>
          <p:nvPr/>
        </p:nvCxnSpPr>
        <p:spPr>
          <a:xfrm>
            <a:off x="5751436" y="6060037"/>
            <a:ext cx="22197" cy="3534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BD85FC2-E116-7C8C-A5CC-3411446465A2}"/>
              </a:ext>
            </a:extLst>
          </p:cNvPr>
          <p:cNvCxnSpPr/>
          <p:nvPr/>
        </p:nvCxnSpPr>
        <p:spPr>
          <a:xfrm>
            <a:off x="4630630" y="4484091"/>
            <a:ext cx="14653" cy="3810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A3F6289-520A-6EEE-E8DD-E7C563FA8488}"/>
              </a:ext>
            </a:extLst>
          </p:cNvPr>
          <p:cNvCxnSpPr/>
          <p:nvPr/>
        </p:nvCxnSpPr>
        <p:spPr>
          <a:xfrm>
            <a:off x="6931291" y="4484090"/>
            <a:ext cx="14653" cy="395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576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20095-CC94-4E84-3DDD-2577A31C5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WORK PLAN, TOOLS &amp; TECHNOLOGIES</a:t>
            </a:r>
          </a:p>
          <a:p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75FC37-D485-0F21-006C-0E135BB32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2566" y="5754909"/>
            <a:ext cx="2116841" cy="1106588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679861D-735A-4A76-CACB-4AF54D247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984761"/>
              </p:ext>
            </p:extLst>
          </p:nvPr>
        </p:nvGraphicFramePr>
        <p:xfrm>
          <a:off x="1056237" y="1516455"/>
          <a:ext cx="7762435" cy="4485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8115">
                  <a:extLst>
                    <a:ext uri="{9D8B030D-6E8A-4147-A177-3AD203B41FA5}">
                      <a16:colId xmlns:a16="http://schemas.microsoft.com/office/drawing/2014/main" val="1664964219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1286079787"/>
                    </a:ext>
                  </a:extLst>
                </a:gridCol>
              </a:tblGrid>
              <a:tr h="67407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chemeClr val="bg1"/>
                          </a:solidFill>
                          <a:latin typeface="Aptos"/>
                        </a:rPr>
                        <a:t>Tasks: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Tools: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973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Dataset collection &amp; preprocessing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Python</a:t>
                      </a:r>
                      <a:endParaRPr lang="en-US" sz="1800" b="0" i="0" u="none" strike="noStrike" noProof="0" dirty="0"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692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Train U-Net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TensorFlow / </a:t>
                      </a:r>
                      <a:r>
                        <a:rPr lang="en-US" sz="18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Keras</a:t>
                      </a:r>
                      <a:endParaRPr lang="en-US" sz="1800" b="0" i="0" u="none" strike="noStrike" noProof="0" dirty="0"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722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Train DeepLabV3+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OpenCV</a:t>
                      </a:r>
                      <a:endParaRPr lang="en-US" sz="1800" b="0" i="0" u="none" strike="noStrike" noProof="0"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813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Hybrid model design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NumPy</a:t>
                      </a:r>
                      <a:endParaRPr lang="en-US" sz="1800" b="0" i="0" u="none" strike="noStrike" noProof="0"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234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Performance evaluation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Matplotlib, Google Colab / Kaggle</a:t>
                      </a:r>
                    </a:p>
                    <a:p>
                      <a:pPr marL="285750" marR="0" lvl="0" indent="-28575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marL="285750" marR="0" lvl="0" indent="-28575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95412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A6904751-6503-BB4E-7DF4-B435A716652A}"/>
              </a:ext>
            </a:extLst>
          </p:cNvPr>
          <p:cNvSpPr/>
          <p:nvPr/>
        </p:nvSpPr>
        <p:spPr>
          <a:xfrm>
            <a:off x="873828" y="1151218"/>
            <a:ext cx="10513317" cy="45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301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91EB9-F999-973A-8CBD-BDB46F1D4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CHALLENGES EXPECTED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52C76-C1E7-9E6B-D43A-9773F42C0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332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Dataset quality variations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Training time (DeepLabV3+ is heavy)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Ensuring fair comparison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Designing an effective fusion strategy</a:t>
            </a:r>
            <a:endParaRPr lang="en-US" sz="20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A953F4-DF14-C620-E7CE-7B10D7D6C155}"/>
              </a:ext>
            </a:extLst>
          </p:cNvPr>
          <p:cNvSpPr txBox="1"/>
          <p:nvPr/>
        </p:nvSpPr>
        <p:spPr>
          <a:xfrm>
            <a:off x="841508" y="3605322"/>
            <a:ext cx="572329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ea typeface="+mn-lt"/>
                <a:cs typeface="+mn-lt"/>
              </a:rPr>
              <a:t>EXPECTED OUTCOMES</a:t>
            </a:r>
            <a:endParaRPr lang="en-US" sz="40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5423B7-F808-3215-C6B3-4D000C7E727E}"/>
              </a:ext>
            </a:extLst>
          </p:cNvPr>
          <p:cNvSpPr txBox="1"/>
          <p:nvPr/>
        </p:nvSpPr>
        <p:spPr>
          <a:xfrm>
            <a:off x="835779" y="4472326"/>
            <a:ext cx="6521570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A research paper-quality comparative study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A novel hybrid underwater segmentation model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Visual segmentation outputs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Benchmarked performance metrics</a:t>
            </a:r>
            <a:endParaRPr lang="en-US" sz="2000" dirty="0"/>
          </a:p>
          <a:p>
            <a:pPr algn="l"/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32B2DB-7E3E-BB75-B854-6FCD2FC7E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2566" y="5754909"/>
            <a:ext cx="2116841" cy="11065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5D1863-77D3-3324-641D-9BEB2BFCFB03}"/>
              </a:ext>
            </a:extLst>
          </p:cNvPr>
          <p:cNvSpPr/>
          <p:nvPr/>
        </p:nvSpPr>
        <p:spPr>
          <a:xfrm>
            <a:off x="960332" y="1336113"/>
            <a:ext cx="9916470" cy="104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49EEDA-0884-E272-D5FC-17F63A9812B8}"/>
              </a:ext>
            </a:extLst>
          </p:cNvPr>
          <p:cNvSpPr/>
          <p:nvPr/>
        </p:nvSpPr>
        <p:spPr>
          <a:xfrm>
            <a:off x="1002085" y="4258863"/>
            <a:ext cx="9895593" cy="125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01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BBFD9-0CFB-13D4-0C94-AFD2723D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1FCE168-EAF9-9287-88C9-6074E588FE7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5DBC2057-D389-FD22-DC8F-74F452DFA5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2566" y="5754909"/>
            <a:ext cx="2116841" cy="110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9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37B04C-B24B-18D1-E7F8-9423509D8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 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7DEE24-8F11-D12F-E6C1-69445EF3B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2566" y="5754909"/>
            <a:ext cx="2116841" cy="110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98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Semantic Segmentation Using  U-Net and DeepLabV3+ for Underwater Image Analysis</vt:lpstr>
      <vt:lpstr>INTRODUCTION:</vt:lpstr>
      <vt:lpstr>PROBLEM STATEMENT</vt:lpstr>
      <vt:lpstr>PROJECT OBJECTIVES</vt:lpstr>
      <vt:lpstr>LITERATURE REVIEW</vt:lpstr>
      <vt:lpstr>NOVELTY</vt:lpstr>
      <vt:lpstr>PROPOSED METHODOLOGY</vt:lpstr>
      <vt:lpstr>BLOCK DIAGRAM (CONCEPTUAL WORKFLOW)</vt:lpstr>
      <vt:lpstr>WORK PLAN, TOOLS &amp; TECHNOLOGIES </vt:lpstr>
      <vt:lpstr>CHALLENGES EXPECTED</vt:lpstr>
      <vt:lpstr>REFERENCES</vt:lpstr>
      <vt:lpstr>THANK YOU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586</cp:revision>
  <dcterms:created xsi:type="dcterms:W3CDTF">2025-12-05T05:23:32Z</dcterms:created>
  <dcterms:modified xsi:type="dcterms:W3CDTF">2025-12-06T08:12:48Z</dcterms:modified>
</cp:coreProperties>
</file>