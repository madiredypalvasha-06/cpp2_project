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BACBE-3995-DF2F-C8CF-2FC9348F8B4C}" v="465" dt="2025-12-05T09:21:10.492"/>
    <p1510:client id="{9C4B0F69-5BFF-AB79-9B52-B4CFAD1FEE49}" v="2" dt="2025-12-05T09:56:53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4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Semantic Segmentation Using U-Net and DeepLabV3+ for Underwater Image Analysis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E2BF4-E822-5934-ACA3-BF9C49160D94}"/>
              </a:ext>
            </a:extLst>
          </p:cNvPr>
          <p:cNvSpPr txBox="1"/>
          <p:nvPr/>
        </p:nvSpPr>
        <p:spPr>
          <a:xfrm>
            <a:off x="703392" y="2989398"/>
            <a:ext cx="494127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Team: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Palvasha</a:t>
            </a:r>
            <a:r>
              <a:rPr lang="en-US">
                <a:ea typeface="+mn-lt"/>
                <a:cs typeface="+mn-lt"/>
              </a:rPr>
              <a:t> Madireddy – 24WU012081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Dharan Gangaraboina – 24WU0102210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Pavitra Sandhya Pradeep-  24WU0102234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Rishyant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Chitluri</a:t>
            </a:r>
            <a:r>
              <a:rPr lang="en-US">
                <a:ea typeface="+mn-lt"/>
                <a:cs typeface="+mn-lt"/>
              </a:rPr>
              <a:t> – 24WU012013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Pranav Madhusudan – 24WU0102193</a:t>
            </a:r>
          </a:p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16641-CB15-540F-250A-F9D6D11404B8}"/>
              </a:ext>
            </a:extLst>
          </p:cNvPr>
          <p:cNvSpPr txBox="1"/>
          <p:nvPr/>
        </p:nvSpPr>
        <p:spPr>
          <a:xfrm>
            <a:off x="666755" y="4850440"/>
            <a:ext cx="49779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Faculty Mentor:</a:t>
            </a:r>
            <a:r>
              <a:rPr lang="en-US">
                <a:ea typeface="+mn-lt"/>
                <a:cs typeface="+mn-lt"/>
              </a:rPr>
              <a:t> Prof. Veeresh Biradar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Department: </a:t>
            </a:r>
            <a:r>
              <a:rPr lang="en-US" err="1">
                <a:ea typeface="+mn-lt"/>
                <a:cs typeface="+mn-lt"/>
              </a:rPr>
              <a:t>B.Tech</a:t>
            </a:r>
            <a:r>
              <a:rPr lang="en-US">
                <a:ea typeface="+mn-lt"/>
                <a:cs typeface="+mn-lt"/>
              </a:rPr>
              <a:t> AIML — </a:t>
            </a:r>
            <a:r>
              <a:rPr lang="en-US" err="1">
                <a:ea typeface="+mn-lt"/>
                <a:cs typeface="+mn-lt"/>
              </a:rPr>
              <a:t>Woxsen</a:t>
            </a:r>
            <a:r>
              <a:rPr lang="en-US">
                <a:ea typeface="+mn-lt"/>
                <a:cs typeface="+mn-lt"/>
              </a:rPr>
              <a:t> University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4AB1-1C91-DF1B-3B53-087BCC07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896B3-9635-2437-5BE2-F7E97D496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>
                <a:ea typeface="+mn-lt"/>
                <a:cs typeface="+mn-lt"/>
              </a:rPr>
              <a:t>Underwater image analysis is essential in: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Marine biodiversity monitoring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Underwater robotics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Environmental research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Coral reef health assessment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Pollution tracking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But underwater images suffer from: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Color distortion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Light scattering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Noise &amp; low contrast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Motion blur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So traditional computer vision methods fail.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This creates the need for </a:t>
            </a:r>
            <a:r>
              <a:rPr lang="en-US" b="1">
                <a:ea typeface="+mn-lt"/>
                <a:cs typeface="+mn-lt"/>
              </a:rPr>
              <a:t>deep learning-based semantic segmentation</a:t>
            </a:r>
            <a:r>
              <a:rPr lang="en-US">
                <a:ea typeface="+mn-lt"/>
                <a:cs typeface="+mn-lt"/>
              </a:rPr>
              <a:t> — pixel-wise classification.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9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E442-400F-2394-DB87-0F90B18E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Problem Statement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626C-A7FE-F1AD-D7D9-9A7C35D4C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The problem: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Underwater images are extremely difficult to segment due to inconsistent lighting, suspended particles, color loss, turbidity, and the presence of complex marine objects. Achieving accurate boundary detection using a single model remains challenging.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Therefore: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A comparative and hybrid approach using U-Net and DeepLabV3+ is needed to improve segmentation performance.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35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87533-F751-CF60-938A-70FF3FE7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Project Objectives (At least 3, SMART format)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9882-C3CF-F3E9-1DEE-C27EBB41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To compare both architectures (U-Net &amp; DeepLabV3+) based on segmentation accuracy on underwater datasets.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To develop a hybrid/ensemble model that fuses U-Net’s fine localization with DeepLabV3+’s multi-scale feature extraction.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To benchmark the performance using </a:t>
            </a:r>
            <a:r>
              <a:rPr lang="en-US" err="1">
                <a:ea typeface="+mn-lt"/>
                <a:cs typeface="+mn-lt"/>
              </a:rPr>
              <a:t>IoU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mIoU</a:t>
            </a:r>
            <a:r>
              <a:rPr lang="en-US">
                <a:ea typeface="+mn-lt"/>
                <a:cs typeface="+mn-lt"/>
              </a:rPr>
              <a:t>, Dice Score, Boundary F1-score, and computational throughput.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7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31E6-DBC5-EDAD-7465-F25A675E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4C32-60EF-8BB4-C0C5-0D7592702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Existing Work:</a:t>
            </a:r>
            <a:endParaRPr lang="en-US"/>
          </a:p>
          <a:p>
            <a:pPr marL="457200" indent="-457200"/>
            <a:r>
              <a:rPr lang="en-US" b="1">
                <a:ea typeface="+mn-lt"/>
                <a:cs typeface="+mn-lt"/>
              </a:rPr>
              <a:t>U-Net</a:t>
            </a:r>
            <a:r>
              <a:rPr lang="en-US">
                <a:ea typeface="+mn-lt"/>
                <a:cs typeface="+mn-lt"/>
              </a:rPr>
              <a:t> is widely used in biomedical and underwater tasks due to its encoder–decoder structure and skip connections.</a:t>
            </a:r>
          </a:p>
          <a:p>
            <a:pPr marL="457200" indent="-457200"/>
            <a:r>
              <a:rPr lang="en-US" b="1">
                <a:ea typeface="+mn-lt"/>
                <a:cs typeface="+mn-lt"/>
              </a:rPr>
              <a:t>DeepLabV3+</a:t>
            </a:r>
            <a:r>
              <a:rPr lang="en-US">
                <a:ea typeface="+mn-lt"/>
                <a:cs typeface="+mn-lt"/>
              </a:rPr>
              <a:t> improves segmentation using: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              1.Atrous Spatial Pyramid Pooling (ASPP)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                2.Depthwise separable convolutions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                3.Better context extraction.</a:t>
            </a:r>
            <a:endParaRPr lang="en-US" sz="2400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Gap</a:t>
            </a:r>
            <a:r>
              <a:rPr lang="en-US" b="1"/>
              <a:t> Identified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Most studies use </a:t>
            </a:r>
            <a:r>
              <a:rPr lang="en-US" b="1">
                <a:ea typeface="+mn-lt"/>
                <a:cs typeface="+mn-lt"/>
              </a:rPr>
              <a:t>either U-Net or DeepLabV3+ individually</a:t>
            </a:r>
            <a:r>
              <a:rPr lang="en-US">
                <a:ea typeface="+mn-lt"/>
                <a:cs typeface="+mn-lt"/>
              </a:rPr>
              <a:t>, but </a:t>
            </a:r>
            <a:r>
              <a:rPr lang="en-US" b="1">
                <a:ea typeface="+mn-lt"/>
                <a:cs typeface="+mn-lt"/>
              </a:rPr>
              <a:t>very few</a:t>
            </a:r>
            <a:r>
              <a:rPr lang="en-US">
                <a:ea typeface="+mn-lt"/>
                <a:cs typeface="+mn-lt"/>
              </a:rPr>
              <a:t> explore a </a:t>
            </a:r>
            <a:r>
              <a:rPr lang="en-US" b="1">
                <a:ea typeface="+mn-lt"/>
                <a:cs typeface="+mn-lt"/>
              </a:rPr>
              <a:t>hybrid or ensemble </a:t>
            </a:r>
            <a:r>
              <a:rPr lang="en-US" b="1" err="1">
                <a:ea typeface="+mn-lt"/>
                <a:cs typeface="+mn-lt"/>
              </a:rPr>
              <a:t>architecture</a:t>
            </a:r>
            <a:r>
              <a:rPr lang="en-US" err="1">
                <a:ea typeface="+mn-lt"/>
                <a:cs typeface="+mn-lt"/>
              </a:rPr>
              <a:t>specifically</a:t>
            </a:r>
            <a:r>
              <a:rPr lang="en-US">
                <a:ea typeface="+mn-lt"/>
                <a:cs typeface="+mn-lt"/>
              </a:rPr>
              <a:t> optimized for </a:t>
            </a:r>
            <a:r>
              <a:rPr lang="en-US" b="1">
                <a:ea typeface="+mn-lt"/>
                <a:cs typeface="+mn-lt"/>
              </a:rPr>
              <a:t>underwater imagery</a:t>
            </a:r>
            <a:r>
              <a:rPr lang="en-US">
                <a:ea typeface="+mn-lt"/>
                <a:cs typeface="+mn-lt"/>
              </a:rPr>
              <a:t>, which has unique distortions.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This gap creates your novelty.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0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1531-4680-6E9E-4E75-3C736E84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6E9AF-CCFE-3066-03A8-FA9AE5030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What makes your project unique?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 </a:t>
            </a:r>
            <a:r>
              <a:rPr lang="en-US" b="1">
                <a:ea typeface="+mn-lt"/>
                <a:cs typeface="+mn-lt"/>
              </a:rPr>
              <a:t>comparative + hybrid</a:t>
            </a:r>
            <a:r>
              <a:rPr lang="en-US">
                <a:ea typeface="+mn-lt"/>
                <a:cs typeface="+mn-lt"/>
              </a:rPr>
              <a:t> approach instead of using a single model.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Targeted specifically at </a:t>
            </a:r>
            <a:r>
              <a:rPr lang="en-US" b="1">
                <a:ea typeface="+mn-lt"/>
                <a:cs typeface="+mn-lt"/>
              </a:rPr>
              <a:t>underwater images</a:t>
            </a:r>
            <a:r>
              <a:rPr lang="en-US">
                <a:ea typeface="+mn-lt"/>
                <a:cs typeface="+mn-lt"/>
              </a:rPr>
              <a:t>, which is under-researched.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Your ensemble aims to: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Improve object boundaries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Produce stable segmentation under noise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Increase robustness across datasets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This shows </a:t>
            </a:r>
            <a:r>
              <a:rPr lang="en-US" b="1">
                <a:ea typeface="+mn-lt"/>
                <a:cs typeface="+mn-lt"/>
              </a:rPr>
              <a:t>CO3 (Creativity &amp; Innovation)</a:t>
            </a:r>
            <a:r>
              <a:rPr lang="en-US">
                <a:ea typeface="+mn-lt"/>
                <a:cs typeface="+mn-lt"/>
              </a:rPr>
              <a:t> clearly.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3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A5BC-D273-E02B-F34C-33244906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Proposed Methodology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5E75-A1C8-9982-ADAF-2EF24CF9C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/>
              <a:t>Step 1: Dataset Collection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Possible datasets: SUIM, </a:t>
            </a:r>
            <a:r>
              <a:rPr lang="en-US" err="1">
                <a:ea typeface="+mn-lt"/>
                <a:cs typeface="+mn-lt"/>
              </a:rPr>
              <a:t>UWSeg</a:t>
            </a:r>
            <a:r>
              <a:rPr lang="en-US">
                <a:ea typeface="+mn-lt"/>
                <a:cs typeface="+mn-lt"/>
              </a:rPr>
              <a:t>, UIEB</a:t>
            </a:r>
            <a:endParaRPr lang="en-US"/>
          </a:p>
          <a:p>
            <a:r>
              <a:rPr lang="en-US" b="1"/>
              <a:t>Step 2: Pre-processing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Color correction, Denoising, Image resizing, Normalization</a:t>
            </a:r>
            <a:endParaRPr lang="en-US"/>
          </a:p>
          <a:p>
            <a:r>
              <a:rPr lang="en-US" b="1"/>
              <a:t>Step 3: Train U-Net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Evaluate pixel accuracy &amp; boundaries</a:t>
            </a:r>
            <a:endParaRPr lang="en-US"/>
          </a:p>
          <a:p>
            <a:r>
              <a:rPr lang="en-US" b="1"/>
              <a:t>Step 4: Train DeepLabV3+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 ASPP for multi-scale features</a:t>
            </a:r>
            <a:endParaRPr lang="en-US"/>
          </a:p>
          <a:p>
            <a:r>
              <a:rPr lang="en-US" b="1"/>
              <a:t>Step 5: Hybrid Model Development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Possible </a:t>
            </a:r>
            <a:r>
              <a:rPr lang="en-US" err="1">
                <a:ea typeface="+mn-lt"/>
                <a:cs typeface="+mn-lt"/>
              </a:rPr>
              <a:t>strategies:Weighted</a:t>
            </a:r>
            <a:r>
              <a:rPr lang="en-US">
                <a:ea typeface="+mn-lt"/>
                <a:cs typeface="+mn-lt"/>
              </a:rPr>
              <a:t> averaging, Pixel-wise voting, Feature fusion</a:t>
            </a:r>
            <a:endParaRPr lang="en-US"/>
          </a:p>
          <a:p>
            <a:r>
              <a:rPr lang="en-US" b="1"/>
              <a:t>Step 6: Performance Comparison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Using metrics: </a:t>
            </a:r>
            <a:r>
              <a:rPr lang="en-US" err="1">
                <a:ea typeface="+mn-lt"/>
                <a:cs typeface="+mn-lt"/>
              </a:rPr>
              <a:t>IoU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mIoU</a:t>
            </a:r>
            <a:r>
              <a:rPr lang="en-US">
                <a:ea typeface="+mn-lt"/>
                <a:cs typeface="+mn-lt"/>
              </a:rPr>
              <a:t>, Dice Coefficient, Boundary F1, FPS (throughput)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6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0A5B-124B-A2CC-EFD3-C1FA2ABB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Block Diagram (Conceptual Workflow)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730B-BBA7-D0C3-5B93-EF5AAF65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 ┌────────────────────┐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 │ Underwater Dataset │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 └─────────┬──────────┘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           │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   Preprocessing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           │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 ┌──────────────┼───────────────┐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 │                              │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┌────────┐                    ┌────────────┐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│ U-Net  │                    │ DeepLabV3+ │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└────┬───┘                    └──────┬─────┘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 │                               │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 └────────────┬──────────────────┘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                             │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        Hybrid/Ensemble Model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                                  │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          Performance Evaluation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                                  │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                   Final Results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76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63B8-9B94-6451-A623-22FF3230B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Tools &amp; Technologies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A3A3-8D82-1213-859F-2E3463A73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Python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TensorFlow / </a:t>
            </a:r>
            <a:r>
              <a:rPr lang="en-US" err="1">
                <a:ea typeface="+mn-lt"/>
                <a:cs typeface="+mn-lt"/>
              </a:rPr>
              <a:t>Keras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OpenCV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NumPy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Matplotlib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Google Colab / Kaggle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03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0095-CC94-4E84-3DDD-2577A31C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Work Plan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FBC7FFF-858C-83B4-6AFC-4D121AD89A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547040"/>
              </p:ext>
            </p:extLst>
          </p:nvPr>
        </p:nvGraphicFramePr>
        <p:xfrm>
          <a:off x="838200" y="1825625"/>
          <a:ext cx="10515600" cy="2660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1697994560"/>
                    </a:ext>
                  </a:extLst>
                </a:gridCol>
              </a:tblGrid>
              <a:tr h="44346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Tasks: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05388"/>
                  </a:ext>
                </a:extLst>
              </a:tr>
              <a:tr h="4434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Dataset collection &amp; preprocessing</a:t>
                      </a:r>
                      <a:endParaRPr lang="en-US"/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7979582"/>
                  </a:ext>
                </a:extLst>
              </a:tr>
              <a:tr h="4434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Train U-Net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477387"/>
                  </a:ext>
                </a:extLst>
              </a:tr>
              <a:tr h="4434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Train DeepLabV3+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812108"/>
                  </a:ext>
                </a:extLst>
              </a:tr>
              <a:tr h="4434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Hybrid model design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178124"/>
                  </a:ext>
                </a:extLst>
              </a:tr>
              <a:tr h="4434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Performance evaluation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28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30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A5A8-347C-F034-8CCE-187C5CB3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Current Progress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12293-B393-E7D6-C3E9-1380F2E7D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Dataset identified (SUIM, </a:t>
            </a:r>
            <a:r>
              <a:rPr lang="en-US" err="1">
                <a:ea typeface="+mn-lt"/>
                <a:cs typeface="+mn-lt"/>
              </a:rPr>
              <a:t>UWSeg</a:t>
            </a:r>
            <a:r>
              <a:rPr lang="en-US">
                <a:ea typeface="+mn-lt"/>
                <a:cs typeface="+mn-lt"/>
              </a:rPr>
              <a:t>)</a:t>
            </a: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Pre-processing code started</a:t>
            </a: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Model skeletons written</a:t>
            </a: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Literature review completed</a:t>
            </a:r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Problem clearly defined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1EB9-F999-973A-8CBD-BDB46F1D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Challenges Expected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2C76-C1E7-9E6B-D43A-9773F42C0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32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Dataset quality variations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Training time (DeepLabV3+ is heavy)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Ensuring fair comparison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Designing an effective fusion strategy</a:t>
            </a:r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953F4-DF14-C620-E7CE-7B10D7D6C155}"/>
              </a:ext>
            </a:extLst>
          </p:cNvPr>
          <p:cNvSpPr txBox="1"/>
          <p:nvPr/>
        </p:nvSpPr>
        <p:spPr>
          <a:xfrm>
            <a:off x="841508" y="4284187"/>
            <a:ext cx="57232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ea typeface="+mn-lt"/>
                <a:cs typeface="+mn-lt"/>
              </a:rPr>
              <a:t>Expected Outcomes</a:t>
            </a:r>
            <a:endParaRPr lang="en-US" sz="4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423B7-F808-3215-C6B3-4D000C7E727E}"/>
              </a:ext>
            </a:extLst>
          </p:cNvPr>
          <p:cNvSpPr txBox="1"/>
          <p:nvPr/>
        </p:nvSpPr>
        <p:spPr>
          <a:xfrm>
            <a:off x="901721" y="5139076"/>
            <a:ext cx="520272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research paper-quality comparative study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novel hybrid underwater segmentation model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Visual segmentation outputs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Benchmarked performance metrics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0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Semantic Segmentation Using U-Net and DeepLabV3+ for Underwater Image Analysis</vt:lpstr>
      <vt:lpstr>Introduction</vt:lpstr>
      <vt:lpstr>Problem Statement</vt:lpstr>
      <vt:lpstr>Project Objectives (At least 3, SMART format)</vt:lpstr>
      <vt:lpstr>Literature Review</vt:lpstr>
      <vt:lpstr>Novelty</vt:lpstr>
      <vt:lpstr>Proposed Methodology</vt:lpstr>
      <vt:lpstr>Block Diagram (Conceptual Workflow)</vt:lpstr>
      <vt:lpstr>Tools &amp; Technologies</vt:lpstr>
      <vt:lpstr>Work Plan</vt:lpstr>
      <vt:lpstr>Current Progress</vt:lpstr>
      <vt:lpstr>Challenges Expected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2025-12-05T05:23:32Z</dcterms:created>
  <dcterms:modified xsi:type="dcterms:W3CDTF">2025-12-05T14:15:47Z</dcterms:modified>
</cp:coreProperties>
</file>